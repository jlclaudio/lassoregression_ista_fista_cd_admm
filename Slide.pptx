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94"/>
  </p:normalViewPr>
  <p:slideViewPr>
    <p:cSldViewPr snapToGrid="0">
      <p:cViewPr varScale="1">
        <p:scale>
          <a:sx n="121" d="100"/>
          <a:sy n="121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14C2B-D5E5-C145-9DFB-FCA49FCA4AAA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DA5D7-EB3C-9043-B620-B3F8D1CF93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05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DA5D7-EB3C-9043-B620-B3F8D1CF9350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4271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DA5D7-EB3C-9043-B620-B3F8D1CF9350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7141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DA5D7-EB3C-9043-B620-B3F8D1CF9350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4976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E45FB-2E18-9A53-394B-329A85DEC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29A889-20D5-18E6-8B8C-7CA38750A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0B477-04DF-AD70-02D5-3E4AFC42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9A40F-9B7B-A3D3-9BAA-2D7AAD226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2E148-E5F9-25DD-2BBD-911C81098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685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992F6-9D82-7FBF-DFF0-26A6B5E1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2BB0D-4573-771D-632D-8F52314EB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0BE08-1561-C2B7-96BB-FB6751BC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77E738-8C3A-2EED-728C-14015A03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762A22-9BC6-32CB-BFDD-0AAF54D8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524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D43D5-C15A-0D05-4049-23A29CE8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D77E5-33C0-9F18-78C5-A63F13FCD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656C93-7171-2C31-373C-E8D1A5BE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19DBC4-CC4A-24FD-7F6D-5F8BCC1E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56771-EC25-1F3F-040A-8F828BE2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422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80984-6FB7-2FBA-163F-8E1FBE8A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FE33CF-ADD8-A554-786A-D683EA5C6F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A732EA-B256-3355-2014-A466809C2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4895F7-24B9-E314-0BF9-E9754985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A74648-F2F4-5CDE-A37A-E37E7917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6A3920-0EF6-F28E-0276-8A58A112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90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A2DE2-EE69-4B7C-8E03-509A3179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4A640C-EA66-2CA0-9118-52C1E5CBD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59443A-70D8-9781-2600-78CA8A35B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999A77-C1A3-EA92-F44B-111E9E8F6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768F4E-2093-BB01-E624-C5BFF031D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1EBEF4-6B56-4CA3-2B4F-1CD9772A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D17B1E-D24C-DDCA-9224-420AA816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2F272A-CA4A-17EB-28BE-1597D4A82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51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D08F6-47AB-D67F-279F-7428FD5F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73320A-D9AA-8D06-6F10-7DC9F8F37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3818C5-79C4-BEC1-23D2-76548C27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7777B3-5736-A7BE-0545-65B7DAD9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255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BC31AE-DCD1-BD66-2876-03F153E0A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F4BACA-4918-90A3-D2C0-F4410EB8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0F0711-52CE-725F-8E53-C0466257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193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0597A-A0AD-46E4-4326-0B516D7D5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573BB-085C-FEEE-B64A-7F3D41925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9569EF-1E32-7940-459D-0CCB164D5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51349-E160-90BF-D0B8-4A4FE60E1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A50715-5B28-C4CA-DC5C-ECE803E7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046143-0E35-306B-C000-E45A74F8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2880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E07F8-2950-9719-3952-65141998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F4AD83-FA93-A7C1-6BBC-4EA8F16D9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654589-5478-DF8D-ECDE-5F12CCC4F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236E59-DE99-6C91-8C20-F57D67D3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30D32-1B9F-9A01-9B90-815D5EC83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C9C47-8025-F374-0871-6ED25030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917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DD395-A7E2-8ADC-0054-987DB9666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4993F1-7885-5D21-454B-3CFC848B1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9D14DE-BECD-92BD-6E29-C2B05833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0FD37A-CA02-FAE0-5C09-9ECF38E3E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434C1F-9B4E-01ED-8473-D5E85AFE3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81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4267423-F913-CC59-6F59-E0E3FB45DA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71A442-40E7-C4D9-D922-A754B3E3B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F4E17-185C-74F4-EA57-89354914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77B9E-14F8-E9E2-0A14-62468BA3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62C1DD-B4E1-2AFC-43AC-4ADD169D9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673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FDCC12-4266-E855-D9D8-1ADB5478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243BB-4CC3-A0D9-BE6B-DA4E2C77F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04ACD-7219-96E4-34C1-A44875F3E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C6DC0-8A86-4346-865A-925DDEAA41ED}" type="datetimeFigureOut">
              <a:rPr kumimoji="1" lang="zh-CN" altLang="en-US" smtClean="0"/>
              <a:t>2026/5/26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1AEA53-0994-E151-1AAA-FB81B8F1B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E17538-AB40-E110-1C3F-2571492D6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85595-4F49-7741-95FC-55F050209A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644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D062C-D4D7-EDFD-DDD3-EE0C103F3F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  <a:cs typeface="Times New Roman" panose="02020603050405020304" pitchFamily="18" charset="0"/>
              </a:rPr>
              <a:t>NAML Project:</a:t>
            </a:r>
            <a:br>
              <a:rPr kumimoji="1" lang="en-US" altLang="zh-CN" dirty="0"/>
            </a:br>
            <a:r>
              <a:rPr lang="en" altLang="zh-CN" sz="310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Lasso and Sparse compressed sensing</a:t>
            </a:r>
            <a:b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E183AE-F9E4-E908-4C21-DA196A000D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Jiali</a:t>
            </a:r>
            <a:r>
              <a:rPr kumimoji="1" lang="en-US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Claudio Huang</a:t>
            </a:r>
          </a:p>
          <a:p>
            <a:r>
              <a:rPr kumimoji="1" lang="en-US" altLang="zh-CN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May 26, 2026</a:t>
            </a:r>
            <a:endParaRPr kumimoji="1" lang="zh-CN" altLang="en-US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图片 4" descr="徽标&#10;&#10;描述已自动生成">
            <a:extLst>
              <a:ext uri="{FF2B5EF4-FFF2-40B4-BE49-F238E27FC236}">
                <a16:creationId xmlns:a16="http://schemas.microsoft.com/office/drawing/2014/main" id="{AEB3E32D-4ECE-E0CC-58BE-113F0B47C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465" y="5257800"/>
            <a:ext cx="1919194" cy="140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5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AB3B7-D9CD-95AF-6843-6040CD1D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Introduction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93C7D-5B92-544C-15B7-B9497ECE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>
                <a:effectLst/>
                <a:latin typeface="Helvetica" pitchFamily="2" charset="0"/>
              </a:rPr>
              <a:t>This project presents multiple acceleration algorithm</a:t>
            </a:r>
            <a:r>
              <a:rPr lang="zh-CN" altLang="en-US" dirty="0">
                <a:effectLst/>
                <a:latin typeface="Helvetica" pitchFamily="2" charset="0"/>
              </a:rPr>
              <a:t> </a:t>
            </a:r>
            <a:r>
              <a:rPr lang="en-US" altLang="zh-CN" dirty="0">
                <a:effectLst/>
                <a:latin typeface="Helvetica" pitchFamily="2" charset="0"/>
              </a:rPr>
              <a:t>of Lasso Regression including ISTA,FISTA,CD,ADMM and their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4165513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592F-8DE3-ED6F-67A9-66B4DE28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FE832-CE6E-599B-ECDD-228A1955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Project Background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3616F8-3ACC-97DC-ABCB-4C14BF0D0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Main task: 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Reconstruct a high-dimensional sparse signal 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x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from noisy, under-sampled measurements 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y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where 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</a:rPr>
              <a:t>M≪N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indent="0">
              <a:buNone/>
            </a:pPr>
            <a:endParaRPr lang="en" altLang="zh-CN" dirty="0">
              <a:solidFill>
                <a:srgbClr val="000000"/>
              </a:solidFill>
              <a:latin typeface="-webkit-standard"/>
            </a:endParaRP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Objective Function (Lasso Formulation):</a:t>
            </a: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altLang="zh-CN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Constitutive Components:</a:t>
            </a:r>
          </a:p>
          <a:p>
            <a:pPr marL="0" indent="0">
              <a:buNone/>
            </a:pPr>
            <a:r>
              <a:rPr lang="en-US" altLang="zh-CN" sz="2200" dirty="0">
                <a:effectLst/>
                <a:latin typeface="Helvetica" pitchFamily="2" charset="0"/>
              </a:rPr>
              <a:t>Data Fitting Term: The Least-squares cost ensuring physical alignment with measurements.</a:t>
            </a:r>
          </a:p>
          <a:p>
            <a:pPr marL="0" indent="0">
              <a:buNone/>
            </a:pPr>
            <a:r>
              <a:rPr lang="en-US" altLang="zh-CN" sz="2200" dirty="0">
                <a:effectLst/>
                <a:latin typeface="Helvetica" pitchFamily="2" charset="0"/>
              </a:rPr>
              <a:t>L1​ Regularization: It is a sparse-inducing prior that drives non-essential coefficients to absolute zero.</a:t>
            </a: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057FC7-AC0B-02E4-1EAF-146EA8B47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979" y="3429762"/>
            <a:ext cx="4453269" cy="8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0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B016-C638-8FC4-E00E-89EF658E5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391D2-64F4-BEB3-8604-8EECBF64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Sensing Matrix A — Algorithmic Encoders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74E45D-8895-C201-37B2-88E4C52D0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effectLst/>
                <a:latin typeface="Helvetica" pitchFamily="2" charset="0"/>
              </a:rPr>
              <a:t>Definition</a:t>
            </a:r>
            <a:r>
              <a:rPr lang="en-US" altLang="zh-CN" sz="2000" dirty="0">
                <a:effectLst/>
                <a:latin typeface="Helvetica" pitchFamily="2" charset="0"/>
              </a:rPr>
              <a:t>: </a:t>
            </a:r>
          </a:p>
          <a:p>
            <a:pPr marL="0" indent="0">
              <a:buNone/>
            </a:pPr>
            <a:r>
              <a:rPr lang="en-US" altLang="zh-CN" sz="20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A sensing matrix is a data sampling rule that projects information from a high-dimensional space (N) into a low-dimensional space (M).</a:t>
            </a:r>
          </a:p>
          <a:p>
            <a:pPr marL="0" indent="0">
              <a:buNone/>
            </a:pPr>
            <a:endParaRPr lang="en-US" altLang="zh-CN" sz="20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sz="2000" b="1" dirty="0">
                <a:effectLst/>
                <a:latin typeface="Helvetica" pitchFamily="2" charset="0"/>
              </a:rPr>
              <a:t>Common Types </a:t>
            </a:r>
            <a:r>
              <a:rPr lang="en-US" altLang="zh-CN" sz="2000" dirty="0">
                <a:effectLst/>
                <a:latin typeface="Helvetica" pitchFamily="2" charset="0"/>
              </a:rPr>
              <a:t>:</a:t>
            </a:r>
          </a:p>
          <a:p>
            <a:r>
              <a:rPr lang="en" altLang="zh-CN" sz="2000" b="1" i="0" u="none" strike="noStrike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Gaussian Random Matrices</a:t>
            </a:r>
            <a:r>
              <a:rPr lang="en" altLang="zh-CN" sz="2000" b="0" i="0" u="none" strike="noStrike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: Exhibits directional uniformity (isotropy) and can capture features from all dimensions.</a:t>
            </a:r>
          </a:p>
          <a:p>
            <a:r>
              <a:rPr lang="en-US" altLang="zh-CN" sz="2000" b="1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Fourier Under-sampling Matrices</a:t>
            </a:r>
            <a:r>
              <a:rPr lang="en-US" altLang="zh-CN" sz="20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: Imposes continuous k-space trajectories via custom frequency masks due to physical constraints in MRI scanning.</a:t>
            </a:r>
          </a:p>
        </p:txBody>
      </p:sp>
    </p:spTree>
    <p:extLst>
      <p:ext uri="{BB962C8B-B14F-4D97-AF65-F5344CB8AC3E}">
        <p14:creationId xmlns:p14="http://schemas.microsoft.com/office/powerpoint/2010/main" val="108914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34CA-1E44-C9DD-5A9B-BA86E240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91D9E-8A87-37C8-3A28-71014E0C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Core Operator: Soft-Thresholding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B86A9-9EF7-CC82-B7C6-3CD96DFAC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b="1" dirty="0">
                <a:effectLst/>
                <a:latin typeface="Helvetica" pitchFamily="2" charset="0"/>
              </a:rPr>
              <a:t>Formula</a:t>
            </a:r>
            <a:r>
              <a:rPr lang="en" altLang="zh-CN" dirty="0">
                <a:effectLst/>
                <a:latin typeface="Helvetica" pitchFamily="2" charset="0"/>
              </a:rPr>
              <a:t>:</a:t>
            </a:r>
            <a:r>
              <a:rPr lang="en" altLang="zh-CN" sz="20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 </a:t>
            </a:r>
            <a:r>
              <a:rPr lang="en" altLang="zh-CN" sz="2000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S</a:t>
            </a:r>
            <a:r>
              <a:rPr lang="el-GR" altLang="zh-CN" sz="2000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κ(</a:t>
            </a:r>
            <a:r>
              <a:rPr lang="en" altLang="zh-CN" sz="2000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v) = sign(v) max(|v|−</a:t>
            </a:r>
            <a:r>
              <a:rPr lang="el-GR" altLang="zh-CN" sz="2000" dirty="0">
                <a:solidFill>
                  <a:srgbClr val="000000"/>
                </a:solidFill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κ,0)</a:t>
            </a:r>
          </a:p>
          <a:p>
            <a:pPr marL="0" indent="0">
              <a:buNone/>
            </a:pPr>
            <a:r>
              <a:rPr lang="en" altLang="zh-CN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Eliminate small signals and “pull” larger signals slightly closer to zero.</a:t>
            </a:r>
          </a:p>
          <a:p>
            <a:pPr marL="0" indent="0">
              <a:buNone/>
            </a:pPr>
            <a:endParaRPr lang="en" altLang="zh-CN" dirty="0">
              <a:effectLst/>
              <a:latin typeface="STHeiti" panose="02010600040101010101" pitchFamily="2" charset="-122"/>
              <a:ea typeface="STHeiti" panose="02010600040101010101" pitchFamily="2" charset="-122"/>
            </a:endParaRPr>
          </a:p>
          <a:p>
            <a:pPr marL="0" indent="0">
              <a:buNone/>
            </a:pPr>
            <a:r>
              <a:rPr lang="en" altLang="zh-CN" sz="2400" b="1" dirty="0">
                <a:effectLst/>
                <a:latin typeface="Helvetica" pitchFamily="2" charset="0"/>
              </a:rPr>
              <a:t>Smooth Continuity</a:t>
            </a:r>
            <a:r>
              <a:rPr lang="en" altLang="zh-CN" sz="2400" dirty="0">
                <a:effectLst/>
                <a:latin typeface="Helvetica" pitchFamily="2" charset="0"/>
              </a:rPr>
              <a:t>: </a:t>
            </a:r>
            <a:r>
              <a:rPr lang="en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Ensures the proximal mapping function is continuous at the boundaries (v=±</a:t>
            </a:r>
            <a:r>
              <a:rPr lang="el-GR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κ), </a:t>
            </a:r>
            <a:r>
              <a:rPr lang="en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preventing algorithmic volatility.</a:t>
            </a:r>
          </a:p>
          <a:p>
            <a:pPr marL="0" indent="0">
              <a:buNone/>
            </a:pPr>
            <a:r>
              <a:rPr lang="en" altLang="zh-CN" sz="2400" b="1" dirty="0">
                <a:effectLst/>
                <a:latin typeface="Helvetica" pitchFamily="2" charset="0"/>
              </a:rPr>
              <a:t>Compensation for costs</a:t>
            </a:r>
            <a:r>
              <a:rPr lang="en" altLang="zh-CN" sz="2400" dirty="0">
                <a:effectLst/>
                <a:latin typeface="Helvetica" pitchFamily="2" charset="0"/>
              </a:rPr>
              <a:t>: </a:t>
            </a:r>
            <a:r>
              <a:rPr lang="en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Surviving coefficients must pay a constant "friction price" (</a:t>
            </a:r>
            <a:r>
              <a:rPr lang="el-GR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κ) </a:t>
            </a:r>
            <a:r>
              <a:rPr lang="en" altLang="zh-CN" sz="2400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for the global sparse structure, providing the distinct ability of L1​ to output absolute zeros.</a:t>
            </a:r>
          </a:p>
        </p:txBody>
      </p:sp>
    </p:spTree>
    <p:extLst>
      <p:ext uri="{BB962C8B-B14F-4D97-AF65-F5344CB8AC3E}">
        <p14:creationId xmlns:p14="http://schemas.microsoft.com/office/powerpoint/2010/main" val="370461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6F50-5004-D622-061E-9BBC8495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A7D0D-8C12-875B-B929-2310645F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Parameter Tuning Strategies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89895-F6B3-96D6-5CB9-8C955E922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" altLang="zh-CN" b="1" i="0" u="none" strike="noStrike" dirty="0">
                <a:solidFill>
                  <a:srgbClr val="000000"/>
                </a:solidFill>
                <a:effectLst/>
              </a:rPr>
              <a:t>Noise </a:t>
            </a:r>
            <a:r>
              <a:rPr lang="el-GR" altLang="zh-CN" b="1" i="0" u="none" strike="noStrike" dirty="0">
                <a:solidFill>
                  <a:srgbClr val="000000"/>
                </a:solidFill>
                <a:effectLst/>
              </a:rPr>
              <a:t>σ</a:t>
            </a:r>
            <a:r>
              <a:rPr lang="el-GR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 </a:t>
            </a: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T</a:t>
            </a:r>
            <a:r>
              <a:rPr lang="en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 environmental disturbance level in physical signal acquisition channels.</a:t>
            </a:r>
          </a:p>
          <a:p>
            <a:pPr marL="0" indent="0">
              <a:buNone/>
            </a:pPr>
            <a:r>
              <a:rPr lang="en" altLang="zh-CN" b="1" i="0" u="none" strike="noStrike" dirty="0">
                <a:solidFill>
                  <a:srgbClr val="000000"/>
                </a:solidFill>
                <a:effectLst/>
              </a:rPr>
              <a:t>Penalty Coefficient </a:t>
            </a:r>
            <a:r>
              <a:rPr lang="el-GR" altLang="zh-CN" b="1" i="0" u="none" strike="noStrike" dirty="0">
                <a:solidFill>
                  <a:srgbClr val="000000"/>
                </a:solidFill>
                <a:effectLst/>
              </a:rPr>
              <a:t>λ</a:t>
            </a:r>
            <a:r>
              <a:rPr lang="el-GR" altLang="zh-C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  <a:endParaRPr lang="en-US" altLang="zh-C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When </a:t>
            </a:r>
            <a:r>
              <a:rPr lang="el-GR" altLang="zh-CN" dirty="0">
                <a:solidFill>
                  <a:srgbClr val="000000"/>
                </a:solidFill>
                <a:latin typeface="-webkit-standard"/>
              </a:rPr>
              <a:t>λ = 0:</a:t>
            </a: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The penalty term is completely eliminated. Lasso regression degenerates into ordinary least squares (OLS) linear regression. 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As </a:t>
            </a:r>
            <a:r>
              <a:rPr lang="el-GR" altLang="zh-CN" dirty="0">
                <a:solidFill>
                  <a:srgbClr val="000000"/>
                </a:solidFill>
                <a:latin typeface="-webkit-standard"/>
              </a:rPr>
              <a:t>λ </a:t>
            </a: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approaches infinity: The penalty becomes infinitely large. To minimize the total loss function, all feature coefficients </a:t>
            </a:r>
            <a:r>
              <a:rPr lang="el-GR" altLang="zh-CN" dirty="0">
                <a:solidFill>
                  <a:srgbClr val="000000"/>
                </a:solidFill>
                <a:latin typeface="-webkit-standard"/>
              </a:rPr>
              <a:t>β </a:t>
            </a:r>
            <a:r>
              <a:rPr lang="en" altLang="zh-CN" dirty="0">
                <a:solidFill>
                  <a:srgbClr val="000000"/>
                </a:solidFill>
                <a:latin typeface="-webkit-standard"/>
              </a:rPr>
              <a:t>must be forced to 0.</a:t>
            </a:r>
            <a:endParaRPr lang="en-US" altLang="zh-CN" dirty="0">
              <a:solidFill>
                <a:srgbClr val="000000"/>
              </a:solidFill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186651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B017-DD39-CBC4-CFE3-B0183247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8FC097-F0D4-5E2E-BA68-451531148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Algorithm (Part I):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ISTA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&amp;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FISTA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CE8F72-FDCA-0CB6-D335-330E0B235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" altLang="zh-CN" b="1" dirty="0"/>
                  <a:t>ISTA (Iterative Shrinkage-Thresholding Algorithm)</a:t>
                </a:r>
                <a:r>
                  <a:rPr lang="en" altLang="zh-CN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" altLang="zh-CN" b="1" dirty="0"/>
                  <a:t>Workflow</a:t>
                </a:r>
                <a:r>
                  <a:rPr lang="en" altLang="zh-CN" dirty="0"/>
                  <a:t>: Gradient descent step (data fidelity optimization) followed by an entry-wise soft-thresholding operator (sparsity induction).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" altLang="zh-CN" b="1" dirty="0"/>
                  <a:t>Characteristics</a:t>
                </a:r>
                <a:r>
                  <a:rPr lang="en" altLang="zh-CN" dirty="0"/>
                  <a:t>: Robust and straightforward with a classical convergence rate of </a:t>
                </a:r>
                <a:r>
                  <a:rPr lang="en" altLang="zh-CN" dirty="0">
                    <a:effectLst/>
                  </a:rPr>
                  <a:t>O</a:t>
                </a:r>
                <a:r>
                  <a:rPr lang="en" altLang="zh-CN" dirty="0"/>
                  <a:t>(1/</a:t>
                </a:r>
                <a:r>
                  <a:rPr lang="en" altLang="zh-CN" dirty="0">
                    <a:effectLst/>
                  </a:rPr>
                  <a:t>k</a:t>
                </a:r>
                <a:r>
                  <a:rPr lang="en" altLang="zh-CN" dirty="0"/>
                  <a:t>).</a:t>
                </a:r>
              </a:p>
              <a:p>
                <a:pPr marL="0" indent="0">
                  <a:buNone/>
                </a:pPr>
                <a:r>
                  <a:rPr lang="en" altLang="zh-CN" b="1" dirty="0"/>
                  <a:t>FISTA (Fast ISTA)</a:t>
                </a:r>
                <a:r>
                  <a:rPr lang="en" altLang="zh-CN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" altLang="zh-CN" b="1" dirty="0"/>
                  <a:t>Strategy: </a:t>
                </a:r>
                <a:r>
                  <a:rPr lang="en" altLang="zh-CN" dirty="0"/>
                  <a:t>evaluating gradients at an extrapolated "look-ahead" point z driven by historic velocity.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" altLang="zh-CN" b="1" dirty="0"/>
                  <a:t>Performance</a:t>
                </a:r>
                <a:r>
                  <a:rPr lang="en" altLang="zh-CN" dirty="0"/>
                  <a:t>: Elevates the theoretical convergence rate to </a:t>
                </a:r>
                <a:r>
                  <a:rPr lang="en" altLang="zh-CN" dirty="0">
                    <a:effectLst/>
                  </a:rPr>
                  <a:t>O</a:t>
                </a:r>
                <a:r>
                  <a:rPr lang="en" altLang="zh-CN" dirty="0"/>
                  <a:t>(1/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zh-CN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" altLang="zh-CN" i="1" dirty="0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" altLang="zh-CN" dirty="0"/>
                  <a:t>) with virtually zero extra per-iteration computational cost.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5CE8F72-FDCA-0CB6-D335-330E0B235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3"/>
                <a:stretch>
                  <a:fillRect l="-1086" t="-2035"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1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2A89-09A1-8D84-6215-0C6CB16C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6B8C9B-DEF4-E805-0629-47D897D2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Algorithm (Part II):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CD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&amp;</a:t>
            </a:r>
            <a:r>
              <a:rPr kumimoji="1" lang="zh-CN" alt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 </a:t>
            </a:r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ADMM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4B8D-FE9B-DB24-699B-EA86A6345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" altLang="zh-CN" sz="2400" b="1" dirty="0"/>
              <a:t>Coordinate Descent (CD)</a:t>
            </a:r>
            <a:r>
              <a:rPr lang="en" altLang="zh-C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b="1" dirty="0"/>
              <a:t>Strategy</a:t>
            </a:r>
            <a:r>
              <a:rPr lang="en" altLang="zh-CN" sz="2400" dirty="0"/>
              <a:t>: Optimizes one scalar coordinate at a time while treating the other </a:t>
            </a:r>
            <a:r>
              <a:rPr lang="en" altLang="zh-CN" sz="2400" dirty="0">
                <a:effectLst/>
              </a:rPr>
              <a:t>N</a:t>
            </a:r>
            <a:r>
              <a:rPr lang="en" altLang="zh-CN" sz="2400" dirty="0"/>
              <a:t>−1 entries as immutable constants.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b="1" dirty="0"/>
              <a:t>Advantage</a:t>
            </a:r>
            <a:r>
              <a:rPr lang="en" altLang="zh-CN" sz="2400" dirty="0"/>
              <a:t>: Utilizes a dynamic </a:t>
            </a:r>
            <a:r>
              <a:rPr lang="en" altLang="zh-CN" sz="2400" b="1" dirty="0"/>
              <a:t>"Residual Updates"</a:t>
            </a:r>
            <a:r>
              <a:rPr lang="en" altLang="zh-CN" sz="2400" dirty="0"/>
              <a:t> mechanism, reducing per-step complexity to a minimal </a:t>
            </a:r>
            <a:r>
              <a:rPr lang="en" altLang="zh-CN" sz="2400" dirty="0">
                <a:effectLst/>
              </a:rPr>
              <a:t>O</a:t>
            </a:r>
            <a:r>
              <a:rPr lang="en" altLang="zh-CN" sz="2400" dirty="0"/>
              <a:t>(</a:t>
            </a:r>
            <a:r>
              <a:rPr lang="en" altLang="zh-CN" sz="2400" dirty="0">
                <a:effectLst/>
              </a:rPr>
              <a:t>M</a:t>
            </a:r>
            <a:r>
              <a:rPr lang="en" altLang="zh-CN" sz="2400" dirty="0"/>
              <a:t>).</a:t>
            </a:r>
          </a:p>
          <a:p>
            <a:pPr marL="0" indent="0">
              <a:buNone/>
            </a:pPr>
            <a:r>
              <a:rPr lang="en" altLang="zh-CN" sz="2400" b="1" dirty="0"/>
              <a:t>ADMM (Alternating Direction Method of Multipliers)</a:t>
            </a:r>
            <a:r>
              <a:rPr lang="en" altLang="zh-C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b="1" dirty="0"/>
              <a:t>Strategy</a:t>
            </a:r>
            <a:r>
              <a:rPr lang="en" altLang="zh-CN" sz="2400" dirty="0"/>
              <a:t>: Splitting variables (x, z) to decouple data fidelity from non-smooth sparsity, using u to enforce consensus.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sz="2400" b="1" dirty="0"/>
              <a:t>Advantage</a:t>
            </a:r>
            <a:r>
              <a:rPr lang="en" altLang="zh-CN" sz="2400" dirty="0"/>
              <a:t>: Highly parallelizable. Employs a pre-cached out-of-loop matrix inversion to compute stable, closed-form updates inside the</a:t>
            </a:r>
            <a:r>
              <a:rPr lang="en" altLang="zh-CN" sz="2600" dirty="0"/>
              <a:t> iterations.</a:t>
            </a:r>
          </a:p>
        </p:txBody>
      </p:sp>
    </p:spTree>
    <p:extLst>
      <p:ext uri="{BB962C8B-B14F-4D97-AF65-F5344CB8AC3E}">
        <p14:creationId xmlns:p14="http://schemas.microsoft.com/office/powerpoint/2010/main" val="72255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6EFDA-78E6-6967-8EA2-A75BB6FF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CDB03-A5FA-3258-DFDC-AC08D445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Experiment I: 1D Sparse Signal Recovery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A2853-2734-D80C-F26A-7A862A05F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Helvetica" pitchFamily="2" charset="0"/>
              </a:rPr>
              <a:t>Data: 1x500 sparse signal(10 nonzero elements).</a:t>
            </a:r>
          </a:p>
        </p:txBody>
      </p:sp>
      <p:pic>
        <p:nvPicPr>
          <p:cNvPr id="10" name="图片 9" descr="图形用户界面, 应用程序&#10;&#10;描述已自动生成">
            <a:extLst>
              <a:ext uri="{FF2B5EF4-FFF2-40B4-BE49-F238E27FC236}">
                <a16:creationId xmlns:a16="http://schemas.microsoft.com/office/drawing/2014/main" id="{2E2C01C8-E039-C0D9-7AAA-67B2731A4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926" y="2364154"/>
            <a:ext cx="5991874" cy="31747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2EC015-A21D-41CB-6B6A-89DC6EEB2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03" y="2364154"/>
            <a:ext cx="4380926" cy="13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34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A5312-4496-C278-7013-14991040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4F69E-C96B-F756-5234-FFFC672A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97056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Experiment II: 2D MRI Image Reconstruction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011AF-5726-7AF9-3035-079A2E10A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>
                <a:latin typeface="Helvetica" pitchFamily="2" charset="0"/>
              </a:rPr>
              <a:t>Data: 32x32 image (MRI/CT).</a:t>
            </a: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endParaRPr lang="en-US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Compressed sensing allows us to 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collect 60% less data during the 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acquisition phase while still perfectly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reconstructing lossless images using 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backend algorithms, thereby significantly 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reducing </a:t>
            </a:r>
            <a:r>
              <a:rPr lang="en-US" altLang="zh-CN" dirty="0">
                <a:latin typeface="Helvetica" pitchFamily="2" charset="0"/>
              </a:rPr>
              <a:t>s</a:t>
            </a:r>
            <a:r>
              <a:rPr lang="en-US" altLang="zh-CN" dirty="0">
                <a:effectLst/>
                <a:latin typeface="Helvetica" pitchFamily="2" charset="0"/>
              </a:rPr>
              <a:t>canning time.</a:t>
            </a:r>
          </a:p>
        </p:txBody>
      </p:sp>
      <p:pic>
        <p:nvPicPr>
          <p:cNvPr id="5" name="图片 4" descr="图片包含 游戏机, 光盘&#10;&#10;描述已自动生成">
            <a:extLst>
              <a:ext uri="{FF2B5EF4-FFF2-40B4-BE49-F238E27FC236}">
                <a16:creationId xmlns:a16="http://schemas.microsoft.com/office/drawing/2014/main" id="{725A90B1-616D-C1FC-A29E-64416615A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246" y="2073437"/>
            <a:ext cx="5298528" cy="34091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30B6CB-2BDC-0FE4-DAEC-C145C100D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17" y="2078050"/>
            <a:ext cx="4077523" cy="123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03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39609-3AA4-2670-7789-22E5C443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18C65-8BFE-9258-3A9D-F1BBD774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Conclusion</a:t>
            </a:r>
            <a:endParaRPr kumimoji="1" lang="zh-CN" altLang="en-US" sz="3600" b="1" dirty="0">
              <a:solidFill>
                <a:schemeClr val="tx2">
                  <a:lumMod val="90000"/>
                  <a:lumOff val="10000"/>
                </a:schemeClr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FAF05-24DD-5D57-95DC-2C0B72972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>
                <a:effectLst/>
                <a:latin typeface="Helvetica" pitchFamily="2" charset="0"/>
              </a:rPr>
              <a:t>Convergence consistency:</a:t>
            </a:r>
          </a:p>
          <a:p>
            <a:pPr marL="0" indent="0">
              <a:buNone/>
            </a:pPr>
            <a:r>
              <a:rPr lang="en" altLang="zh-CN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All four algorithms ultimately converge to the same global optimal value of the objective function.</a:t>
            </a:r>
          </a:p>
          <a:p>
            <a:pPr marL="0" indent="0">
              <a:buNone/>
            </a:pPr>
            <a:endParaRPr lang="en" altLang="zh-CN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Performance: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Speed: </a:t>
            </a:r>
            <a:r>
              <a:rPr lang="en-US" altLang="zh-CN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FISTA and ADMM perform best</a:t>
            </a:r>
            <a:r>
              <a:rPr lang="en-US" altLang="zh-CN" dirty="0">
                <a:effectLst/>
                <a:latin typeface="Helvetica" pitchFamily="2" charset="0"/>
              </a:rPr>
              <a:t>.</a:t>
            </a:r>
          </a:p>
          <a:p>
            <a:pPr marL="0" indent="0">
              <a:buNone/>
            </a:pPr>
            <a:r>
              <a:rPr lang="en-US" altLang="zh-CN" dirty="0">
                <a:effectLst/>
                <a:latin typeface="Helvetica" pitchFamily="2" charset="0"/>
              </a:rPr>
              <a:t>Sparsity sensitivity: </a:t>
            </a:r>
            <a:r>
              <a:rPr lang="en-US" altLang="zh-CN" dirty="0">
                <a:effectLst/>
                <a:latin typeface="STHeiti" panose="02010600040101010101" pitchFamily="2" charset="-122"/>
                <a:ea typeface="STHeiti" panose="02010600040101010101" pitchFamily="2" charset="-122"/>
              </a:rPr>
              <a:t>The coordinate descent method demonstrates excellent sparsity-preserving capabilities.</a:t>
            </a:r>
          </a:p>
        </p:txBody>
      </p:sp>
    </p:spTree>
    <p:extLst>
      <p:ext uri="{BB962C8B-B14F-4D97-AF65-F5344CB8AC3E}">
        <p14:creationId xmlns:p14="http://schemas.microsoft.com/office/powerpoint/2010/main" val="4112160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30D36-3289-D249-4367-1EB795681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4427"/>
            <a:ext cx="10515600" cy="32025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en-US" altLang="zh-CN" sz="3600" dirty="0">
                <a:solidFill>
                  <a:srgbClr val="002060"/>
                </a:solidFill>
                <a:latin typeface="STHeiti" panose="02010600040101010101" pitchFamily="2" charset="-122"/>
                <a:ea typeface="STHeiti" panose="02010600040101010101" pitchFamily="2" charset="-122"/>
              </a:rPr>
              <a:t>Thanks!</a:t>
            </a:r>
            <a:endParaRPr kumimoji="1" lang="zh-CN" altLang="en-US" sz="3600" dirty="0">
              <a:solidFill>
                <a:srgbClr val="002060"/>
              </a:solidFill>
              <a:latin typeface="STHeiti" panose="02010600040101010101" pitchFamily="2" charset="-122"/>
              <a:ea typeface="STHeiti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960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653</Words>
  <Application>Microsoft Macintosh PowerPoint</Application>
  <PresentationFormat>宽屏</PresentationFormat>
  <Paragraphs>71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-webkit-standard</vt:lpstr>
      <vt:lpstr>等线</vt:lpstr>
      <vt:lpstr>等线 Light</vt:lpstr>
      <vt:lpstr>STHeiti</vt:lpstr>
      <vt:lpstr>Arial</vt:lpstr>
      <vt:lpstr>Cambria Math</vt:lpstr>
      <vt:lpstr>Helvetica</vt:lpstr>
      <vt:lpstr>Office 主题​​</vt:lpstr>
      <vt:lpstr>NAML Project: Lasso and Sparse compressed sensing </vt:lpstr>
      <vt:lpstr>Introduction</vt:lpstr>
      <vt:lpstr>Project Background</vt:lpstr>
      <vt:lpstr>Sensing Matrix A — Algorithmic Encoders</vt:lpstr>
      <vt:lpstr>Core Operator: Soft-Thresholding</vt:lpstr>
      <vt:lpstr>Parameter Tuning Strategies</vt:lpstr>
      <vt:lpstr>Algorithm (Part I): ISTA &amp; FISTA</vt:lpstr>
      <vt:lpstr>Algorithm (Part II): CD &amp; ADMM</vt:lpstr>
      <vt:lpstr>Experiment I: 1D Sparse Signal Recovery</vt:lpstr>
      <vt:lpstr>Experiment II: 2D MRI Image Reconstruction</vt:lpstr>
      <vt:lpstr>Conclusion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JIALI HUANG</dc:creator>
  <cp:lastModifiedBy>JIALI HUANG</cp:lastModifiedBy>
  <cp:revision>2</cp:revision>
  <dcterms:created xsi:type="dcterms:W3CDTF">2026-05-26T10:06:36Z</dcterms:created>
  <dcterms:modified xsi:type="dcterms:W3CDTF">2026-05-26T13:15:54Z</dcterms:modified>
</cp:coreProperties>
</file>